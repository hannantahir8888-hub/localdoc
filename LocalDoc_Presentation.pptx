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91540" y="891540"/>
            <a:ext cx="45720" cy="45720"/>
          </a:xfrm>
          <a:prstGeom prst="ellipse">
            <a:avLst/>
          </a:prstGeom>
          <a:solidFill>
            <a:srgbClr val="1A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91540" y="1805940"/>
            <a:ext cx="45720" cy="45720"/>
          </a:xfrm>
          <a:prstGeom prst="ellipse">
            <a:avLst/>
          </a:prstGeom>
          <a:solidFill>
            <a:srgbClr val="1A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91540" y="2720340"/>
            <a:ext cx="45720" cy="45720"/>
          </a:xfrm>
          <a:prstGeom prst="ellipse">
            <a:avLst/>
          </a:prstGeom>
          <a:solidFill>
            <a:srgbClr val="1A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91540" y="3634740"/>
            <a:ext cx="45720" cy="45720"/>
          </a:xfrm>
          <a:prstGeom prst="ellipse">
            <a:avLst/>
          </a:prstGeom>
          <a:solidFill>
            <a:srgbClr val="1A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91540" y="4549140"/>
            <a:ext cx="45720" cy="45720"/>
          </a:xfrm>
          <a:prstGeom prst="ellipse">
            <a:avLst/>
          </a:prstGeom>
          <a:solidFill>
            <a:srgbClr val="1A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91540" y="5463540"/>
            <a:ext cx="45720" cy="45720"/>
          </a:xfrm>
          <a:prstGeom prst="ellipse">
            <a:avLst/>
          </a:prstGeom>
          <a:solidFill>
            <a:srgbClr val="1A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805940" y="891540"/>
            <a:ext cx="45720" cy="45720"/>
          </a:xfrm>
          <a:prstGeom prst="ellipse">
            <a:avLst/>
          </a:prstGeom>
          <a:solidFill>
            <a:srgbClr val="1A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805940" y="1805940"/>
            <a:ext cx="45720" cy="45720"/>
          </a:xfrm>
          <a:prstGeom prst="ellipse">
            <a:avLst/>
          </a:prstGeom>
          <a:solidFill>
            <a:srgbClr val="1A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805940" y="2720340"/>
            <a:ext cx="45720" cy="45720"/>
          </a:xfrm>
          <a:prstGeom prst="ellipse">
            <a:avLst/>
          </a:prstGeom>
          <a:solidFill>
            <a:srgbClr val="1A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805940" y="3634740"/>
            <a:ext cx="45720" cy="45720"/>
          </a:xfrm>
          <a:prstGeom prst="ellipse">
            <a:avLst/>
          </a:prstGeom>
          <a:solidFill>
            <a:srgbClr val="1A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805940" y="4549140"/>
            <a:ext cx="45720" cy="45720"/>
          </a:xfrm>
          <a:prstGeom prst="ellipse">
            <a:avLst/>
          </a:prstGeom>
          <a:solidFill>
            <a:srgbClr val="1A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805940" y="5463540"/>
            <a:ext cx="45720" cy="45720"/>
          </a:xfrm>
          <a:prstGeom prst="ellipse">
            <a:avLst/>
          </a:prstGeom>
          <a:solidFill>
            <a:srgbClr val="1A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2720340" y="891540"/>
            <a:ext cx="45720" cy="45720"/>
          </a:xfrm>
          <a:prstGeom prst="ellipse">
            <a:avLst/>
          </a:prstGeom>
          <a:solidFill>
            <a:srgbClr val="1A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2720340" y="1805940"/>
            <a:ext cx="45720" cy="45720"/>
          </a:xfrm>
          <a:prstGeom prst="ellipse">
            <a:avLst/>
          </a:prstGeom>
          <a:solidFill>
            <a:srgbClr val="1A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2720340" y="2720340"/>
            <a:ext cx="45720" cy="45720"/>
          </a:xfrm>
          <a:prstGeom prst="ellipse">
            <a:avLst/>
          </a:prstGeom>
          <a:solidFill>
            <a:srgbClr val="1A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2720340" y="3634740"/>
            <a:ext cx="45720" cy="45720"/>
          </a:xfrm>
          <a:prstGeom prst="ellipse">
            <a:avLst/>
          </a:prstGeom>
          <a:solidFill>
            <a:srgbClr val="1A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2720340" y="4549140"/>
            <a:ext cx="45720" cy="45720"/>
          </a:xfrm>
          <a:prstGeom prst="ellipse">
            <a:avLst/>
          </a:prstGeom>
          <a:solidFill>
            <a:srgbClr val="1A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2720340" y="5463540"/>
            <a:ext cx="45720" cy="45720"/>
          </a:xfrm>
          <a:prstGeom prst="ellipse">
            <a:avLst/>
          </a:prstGeom>
          <a:solidFill>
            <a:srgbClr val="1A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3634740" y="891540"/>
            <a:ext cx="45720" cy="45720"/>
          </a:xfrm>
          <a:prstGeom prst="ellipse">
            <a:avLst/>
          </a:prstGeom>
          <a:solidFill>
            <a:srgbClr val="1A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3634740" y="1805940"/>
            <a:ext cx="45720" cy="45720"/>
          </a:xfrm>
          <a:prstGeom prst="ellipse">
            <a:avLst/>
          </a:prstGeom>
          <a:solidFill>
            <a:srgbClr val="1A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3634740" y="2720340"/>
            <a:ext cx="45720" cy="45720"/>
          </a:xfrm>
          <a:prstGeom prst="ellipse">
            <a:avLst/>
          </a:prstGeom>
          <a:solidFill>
            <a:srgbClr val="1A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3634740" y="3634740"/>
            <a:ext cx="45720" cy="45720"/>
          </a:xfrm>
          <a:prstGeom prst="ellipse">
            <a:avLst/>
          </a:prstGeom>
          <a:solidFill>
            <a:srgbClr val="1A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3634740" y="4549140"/>
            <a:ext cx="45720" cy="45720"/>
          </a:xfrm>
          <a:prstGeom prst="ellipse">
            <a:avLst/>
          </a:prstGeom>
          <a:solidFill>
            <a:srgbClr val="1A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3634740" y="5463540"/>
            <a:ext cx="45720" cy="45720"/>
          </a:xfrm>
          <a:prstGeom prst="ellipse">
            <a:avLst/>
          </a:prstGeom>
          <a:solidFill>
            <a:srgbClr val="1A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4549140" y="891540"/>
            <a:ext cx="45720" cy="45720"/>
          </a:xfrm>
          <a:prstGeom prst="ellipse">
            <a:avLst/>
          </a:prstGeom>
          <a:solidFill>
            <a:srgbClr val="1A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4549140" y="1805940"/>
            <a:ext cx="45720" cy="45720"/>
          </a:xfrm>
          <a:prstGeom prst="ellipse">
            <a:avLst/>
          </a:prstGeom>
          <a:solidFill>
            <a:srgbClr val="1A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4549140" y="2720340"/>
            <a:ext cx="45720" cy="45720"/>
          </a:xfrm>
          <a:prstGeom prst="ellipse">
            <a:avLst/>
          </a:prstGeom>
          <a:solidFill>
            <a:srgbClr val="1A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4549140" y="3634740"/>
            <a:ext cx="45720" cy="45720"/>
          </a:xfrm>
          <a:prstGeom prst="ellipse">
            <a:avLst/>
          </a:prstGeom>
          <a:solidFill>
            <a:srgbClr val="1A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4549140" y="4549140"/>
            <a:ext cx="45720" cy="45720"/>
          </a:xfrm>
          <a:prstGeom prst="ellipse">
            <a:avLst/>
          </a:prstGeom>
          <a:solidFill>
            <a:srgbClr val="1A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4549140" y="5463540"/>
            <a:ext cx="45720" cy="45720"/>
          </a:xfrm>
          <a:prstGeom prst="ellipse">
            <a:avLst/>
          </a:prstGeom>
          <a:solidFill>
            <a:srgbClr val="1A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5463540" y="891540"/>
            <a:ext cx="45720" cy="45720"/>
          </a:xfrm>
          <a:prstGeom prst="ellipse">
            <a:avLst/>
          </a:prstGeom>
          <a:solidFill>
            <a:srgbClr val="1A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5463540" y="1805940"/>
            <a:ext cx="45720" cy="45720"/>
          </a:xfrm>
          <a:prstGeom prst="ellipse">
            <a:avLst/>
          </a:prstGeom>
          <a:solidFill>
            <a:srgbClr val="1A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5463540" y="2720340"/>
            <a:ext cx="45720" cy="45720"/>
          </a:xfrm>
          <a:prstGeom prst="ellipse">
            <a:avLst/>
          </a:prstGeom>
          <a:solidFill>
            <a:srgbClr val="1A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5463540" y="3634740"/>
            <a:ext cx="45720" cy="45720"/>
          </a:xfrm>
          <a:prstGeom prst="ellipse">
            <a:avLst/>
          </a:prstGeom>
          <a:solidFill>
            <a:srgbClr val="1A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5463540" y="4549140"/>
            <a:ext cx="45720" cy="45720"/>
          </a:xfrm>
          <a:prstGeom prst="ellipse">
            <a:avLst/>
          </a:prstGeom>
          <a:solidFill>
            <a:srgbClr val="1A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5463540" y="5463540"/>
            <a:ext cx="45720" cy="45720"/>
          </a:xfrm>
          <a:prstGeom prst="ellipse">
            <a:avLst/>
          </a:prstGeom>
          <a:solidFill>
            <a:srgbClr val="1A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6377940" y="891540"/>
            <a:ext cx="45720" cy="45720"/>
          </a:xfrm>
          <a:prstGeom prst="ellipse">
            <a:avLst/>
          </a:prstGeom>
          <a:solidFill>
            <a:srgbClr val="1A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6377940" y="1805940"/>
            <a:ext cx="45720" cy="45720"/>
          </a:xfrm>
          <a:prstGeom prst="ellipse">
            <a:avLst/>
          </a:prstGeom>
          <a:solidFill>
            <a:srgbClr val="1A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6377940" y="2720340"/>
            <a:ext cx="45720" cy="45720"/>
          </a:xfrm>
          <a:prstGeom prst="ellipse">
            <a:avLst/>
          </a:prstGeom>
          <a:solidFill>
            <a:srgbClr val="1A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6377940" y="3634740"/>
            <a:ext cx="45720" cy="45720"/>
          </a:xfrm>
          <a:prstGeom prst="ellipse">
            <a:avLst/>
          </a:prstGeom>
          <a:solidFill>
            <a:srgbClr val="1A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6377940" y="4549140"/>
            <a:ext cx="45720" cy="45720"/>
          </a:xfrm>
          <a:prstGeom prst="ellipse">
            <a:avLst/>
          </a:prstGeom>
          <a:solidFill>
            <a:srgbClr val="1A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6377940" y="5463540"/>
            <a:ext cx="45720" cy="45720"/>
          </a:xfrm>
          <a:prstGeom prst="ellipse">
            <a:avLst/>
          </a:prstGeom>
          <a:solidFill>
            <a:srgbClr val="1A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7292340" y="891540"/>
            <a:ext cx="45720" cy="45720"/>
          </a:xfrm>
          <a:prstGeom prst="ellipse">
            <a:avLst/>
          </a:prstGeom>
          <a:solidFill>
            <a:srgbClr val="1A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7292340" y="1805940"/>
            <a:ext cx="45720" cy="45720"/>
          </a:xfrm>
          <a:prstGeom prst="ellipse">
            <a:avLst/>
          </a:prstGeom>
          <a:solidFill>
            <a:srgbClr val="1A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7292340" y="2720340"/>
            <a:ext cx="45720" cy="45720"/>
          </a:xfrm>
          <a:prstGeom prst="ellipse">
            <a:avLst/>
          </a:prstGeom>
          <a:solidFill>
            <a:srgbClr val="1A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7292340" y="3634740"/>
            <a:ext cx="45720" cy="45720"/>
          </a:xfrm>
          <a:prstGeom prst="ellipse">
            <a:avLst/>
          </a:prstGeom>
          <a:solidFill>
            <a:srgbClr val="1A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7292340" y="4549140"/>
            <a:ext cx="45720" cy="45720"/>
          </a:xfrm>
          <a:prstGeom prst="ellipse">
            <a:avLst/>
          </a:prstGeom>
          <a:solidFill>
            <a:srgbClr val="1A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7292340" y="5463540"/>
            <a:ext cx="45720" cy="45720"/>
          </a:xfrm>
          <a:prstGeom prst="ellipse">
            <a:avLst/>
          </a:prstGeom>
          <a:solidFill>
            <a:srgbClr val="1A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8206740" y="891540"/>
            <a:ext cx="45720" cy="45720"/>
          </a:xfrm>
          <a:prstGeom prst="ellipse">
            <a:avLst/>
          </a:prstGeom>
          <a:solidFill>
            <a:srgbClr val="1A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8206740" y="1805940"/>
            <a:ext cx="45720" cy="45720"/>
          </a:xfrm>
          <a:prstGeom prst="ellipse">
            <a:avLst/>
          </a:prstGeom>
          <a:solidFill>
            <a:srgbClr val="1A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8206740" y="2720340"/>
            <a:ext cx="45720" cy="45720"/>
          </a:xfrm>
          <a:prstGeom prst="ellipse">
            <a:avLst/>
          </a:prstGeom>
          <a:solidFill>
            <a:srgbClr val="1A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8206740" y="3634740"/>
            <a:ext cx="45720" cy="45720"/>
          </a:xfrm>
          <a:prstGeom prst="ellipse">
            <a:avLst/>
          </a:prstGeom>
          <a:solidFill>
            <a:srgbClr val="1A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8206740" y="4549140"/>
            <a:ext cx="45720" cy="45720"/>
          </a:xfrm>
          <a:prstGeom prst="ellipse">
            <a:avLst/>
          </a:prstGeom>
          <a:solidFill>
            <a:srgbClr val="1A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8206740" y="5463540"/>
            <a:ext cx="45720" cy="45720"/>
          </a:xfrm>
          <a:prstGeom prst="ellipse">
            <a:avLst/>
          </a:prstGeom>
          <a:solidFill>
            <a:srgbClr val="1A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9121140" y="891540"/>
            <a:ext cx="45720" cy="45720"/>
          </a:xfrm>
          <a:prstGeom prst="ellipse">
            <a:avLst/>
          </a:prstGeom>
          <a:solidFill>
            <a:srgbClr val="1A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9121140" y="1805940"/>
            <a:ext cx="45720" cy="45720"/>
          </a:xfrm>
          <a:prstGeom prst="ellipse">
            <a:avLst/>
          </a:prstGeom>
          <a:solidFill>
            <a:srgbClr val="1A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9121140" y="2720340"/>
            <a:ext cx="45720" cy="45720"/>
          </a:xfrm>
          <a:prstGeom prst="ellipse">
            <a:avLst/>
          </a:prstGeom>
          <a:solidFill>
            <a:srgbClr val="1A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9121140" y="3634740"/>
            <a:ext cx="45720" cy="45720"/>
          </a:xfrm>
          <a:prstGeom prst="ellipse">
            <a:avLst/>
          </a:prstGeom>
          <a:solidFill>
            <a:srgbClr val="1A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9121140" y="4549140"/>
            <a:ext cx="45720" cy="45720"/>
          </a:xfrm>
          <a:prstGeom prst="ellipse">
            <a:avLst/>
          </a:prstGeom>
          <a:solidFill>
            <a:srgbClr val="1A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9121140" y="5463540"/>
            <a:ext cx="45720" cy="45720"/>
          </a:xfrm>
          <a:prstGeom prst="ellipse">
            <a:avLst/>
          </a:prstGeom>
          <a:solidFill>
            <a:srgbClr val="1A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10035540" y="891540"/>
            <a:ext cx="45720" cy="45720"/>
          </a:xfrm>
          <a:prstGeom prst="ellipse">
            <a:avLst/>
          </a:prstGeom>
          <a:solidFill>
            <a:srgbClr val="1A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10035540" y="1805940"/>
            <a:ext cx="45720" cy="45720"/>
          </a:xfrm>
          <a:prstGeom prst="ellipse">
            <a:avLst/>
          </a:prstGeom>
          <a:solidFill>
            <a:srgbClr val="1A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10035540" y="2720340"/>
            <a:ext cx="45720" cy="45720"/>
          </a:xfrm>
          <a:prstGeom prst="ellipse">
            <a:avLst/>
          </a:prstGeom>
          <a:solidFill>
            <a:srgbClr val="1A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10035540" y="3634740"/>
            <a:ext cx="45720" cy="45720"/>
          </a:xfrm>
          <a:prstGeom prst="ellipse">
            <a:avLst/>
          </a:prstGeom>
          <a:solidFill>
            <a:srgbClr val="1A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10035540" y="4549140"/>
            <a:ext cx="45720" cy="45720"/>
          </a:xfrm>
          <a:prstGeom prst="ellipse">
            <a:avLst/>
          </a:prstGeom>
          <a:solidFill>
            <a:srgbClr val="1A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10035540" y="5463540"/>
            <a:ext cx="45720" cy="45720"/>
          </a:xfrm>
          <a:prstGeom prst="ellipse">
            <a:avLst/>
          </a:prstGeom>
          <a:solidFill>
            <a:srgbClr val="1A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10949940" y="891540"/>
            <a:ext cx="45720" cy="45720"/>
          </a:xfrm>
          <a:prstGeom prst="ellipse">
            <a:avLst/>
          </a:prstGeom>
          <a:solidFill>
            <a:srgbClr val="1A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10949940" y="1805940"/>
            <a:ext cx="45720" cy="45720"/>
          </a:xfrm>
          <a:prstGeom prst="ellipse">
            <a:avLst/>
          </a:prstGeom>
          <a:solidFill>
            <a:srgbClr val="1A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10949940" y="2720340"/>
            <a:ext cx="45720" cy="45720"/>
          </a:xfrm>
          <a:prstGeom prst="ellipse">
            <a:avLst/>
          </a:prstGeom>
          <a:solidFill>
            <a:srgbClr val="1A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10949940" y="3634740"/>
            <a:ext cx="45720" cy="45720"/>
          </a:xfrm>
          <a:prstGeom prst="ellipse">
            <a:avLst/>
          </a:prstGeom>
          <a:solidFill>
            <a:srgbClr val="1A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10949940" y="4549140"/>
            <a:ext cx="45720" cy="45720"/>
          </a:xfrm>
          <a:prstGeom prst="ellipse">
            <a:avLst/>
          </a:prstGeom>
          <a:solidFill>
            <a:srgbClr val="1A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10949940" y="5463540"/>
            <a:ext cx="45720" cy="45720"/>
          </a:xfrm>
          <a:prstGeom prst="ellipse">
            <a:avLst/>
          </a:prstGeom>
          <a:solidFill>
            <a:srgbClr val="1A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6858000" y="1371600"/>
            <a:ext cx="4572000" cy="4572000"/>
          </a:xfrm>
          <a:prstGeom prst="ellipse">
            <a:avLst/>
          </a:prstGeom>
          <a:solidFill>
            <a:srgbClr val="004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1371600" y="146304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D4AA"/>
                </a:solidFill>
                <a:latin typeface="Calibri"/>
              </a:rPr>
              <a:t>AI-POWERED DOCUMENT INTELLIGENCE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371600" y="1828800"/>
            <a:ext cx="4572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0" b="1" i="0">
                <a:solidFill>
                  <a:srgbClr val="FFFFFF"/>
                </a:solidFill>
                <a:latin typeface="Georgia"/>
              </a:rPr>
              <a:t>Local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3794760" y="1828800"/>
            <a:ext cx="3200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0" b="1" i="0">
                <a:solidFill>
                  <a:srgbClr val="00D4AA"/>
                </a:solidFill>
                <a:latin typeface="Georgia"/>
              </a:rPr>
              <a:t>Doc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1371600" y="3291840"/>
            <a:ext cx="6400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8A9AB5"/>
                </a:solidFill>
                <a:latin typeface="Calibri"/>
              </a:rPr>
              <a:t>Upload any document. Ask anything.
Get instant answers — powered by AI, running locally.</a:t>
            </a:r>
          </a:p>
        </p:txBody>
      </p:sp>
      <p:sp>
        <p:nvSpPr>
          <p:cNvPr id="80" name="Rectangle 79"/>
          <p:cNvSpPr/>
          <p:nvPr/>
        </p:nvSpPr>
        <p:spPr>
          <a:xfrm>
            <a:off x="1371600" y="4434840"/>
            <a:ext cx="1920240" cy="502920"/>
          </a:xfrm>
          <a:prstGeom prst="rect">
            <a:avLst/>
          </a:prstGeom>
          <a:solidFill>
            <a:srgbClr val="101E32"/>
          </a:solidFill>
          <a:ln w="12700"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1481328" y="4453128"/>
            <a:ext cx="1737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0D4AA"/>
                </a:solidFill>
                <a:latin typeface="Calibri"/>
              </a:rPr>
              <a:t>🔒  Private</a:t>
            </a:r>
          </a:p>
        </p:txBody>
      </p:sp>
      <p:sp>
        <p:nvSpPr>
          <p:cNvPr id="82" name="Rectangle 81"/>
          <p:cNvSpPr/>
          <p:nvPr/>
        </p:nvSpPr>
        <p:spPr>
          <a:xfrm>
            <a:off x="3657600" y="4434840"/>
            <a:ext cx="1920240" cy="502920"/>
          </a:xfrm>
          <a:prstGeom prst="rect">
            <a:avLst/>
          </a:prstGeom>
          <a:solidFill>
            <a:srgbClr val="101E32"/>
          </a:solidFill>
          <a:ln w="12700">
            <a:solidFill>
              <a:srgbClr val="6C6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3767328" y="4453128"/>
            <a:ext cx="1737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6C63FF"/>
                </a:solidFill>
                <a:latin typeface="Calibri"/>
              </a:rPr>
              <a:t>⚡  Instant</a:t>
            </a:r>
          </a:p>
        </p:txBody>
      </p:sp>
      <p:sp>
        <p:nvSpPr>
          <p:cNvPr id="84" name="Rectangle 83"/>
          <p:cNvSpPr/>
          <p:nvPr/>
        </p:nvSpPr>
        <p:spPr>
          <a:xfrm>
            <a:off x="5943600" y="4434840"/>
            <a:ext cx="1920240" cy="502920"/>
          </a:xfrm>
          <a:prstGeom prst="rect">
            <a:avLst/>
          </a:prstGeom>
          <a:solidFill>
            <a:srgbClr val="101E32"/>
          </a:solidFill>
          <a:ln w="12700">
            <a:solidFill>
              <a:srgbClr val="FF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6053328" y="4453128"/>
            <a:ext cx="1737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6B6B"/>
                </a:solidFill>
                <a:latin typeface="Calibri"/>
              </a:rPr>
              <a:t>🧠  Smart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10515600" y="63093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A9AB5"/>
                </a:solidFill>
                <a:latin typeface="Calibri"/>
              </a:rPr>
              <a:t>01 / 09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4864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6B6B"/>
                </a:solidFill>
                <a:latin typeface="Calibri"/>
              </a:rP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822960"/>
            <a:ext cx="9144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Georgia"/>
              </a:rPr>
              <a:t>Documents are a nightmare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2011680"/>
            <a:ext cx="3474720" cy="3657600"/>
          </a:xfrm>
          <a:prstGeom prst="rect">
            <a:avLst/>
          </a:prstGeom>
          <a:solidFill>
            <a:srgbClr val="0D1726"/>
          </a:solidFill>
          <a:ln w="12700">
            <a:solidFill>
              <a:srgbClr val="1E2D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2148840"/>
            <a:ext cx="731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0" i="0">
                <a:solidFill>
                  <a:srgbClr val="FFFFFF"/>
                </a:solidFill>
                <a:latin typeface="Calibri"/>
              </a:rPr>
              <a:t>📚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88036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Too Many Documents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3383280"/>
            <a:ext cx="3108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A9AB5"/>
                </a:solidFill>
                <a:latin typeface="Calibri"/>
              </a:rPr>
              <a:t>Reports, contracts, research papers — finding the right info takes hours of manual reading.</a:t>
            </a:r>
          </a:p>
        </p:txBody>
      </p:sp>
      <p:sp>
        <p:nvSpPr>
          <p:cNvPr id="9" name="Rectangle 8"/>
          <p:cNvSpPr/>
          <p:nvPr/>
        </p:nvSpPr>
        <p:spPr>
          <a:xfrm>
            <a:off x="4663440" y="2011680"/>
            <a:ext cx="3474720" cy="3657600"/>
          </a:xfrm>
          <a:prstGeom prst="rect">
            <a:avLst/>
          </a:prstGeom>
          <a:solidFill>
            <a:srgbClr val="0D1726"/>
          </a:solidFill>
          <a:ln w="12700">
            <a:solidFill>
              <a:srgbClr val="1E2D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892040" y="2148840"/>
            <a:ext cx="731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0" i="0">
                <a:solidFill>
                  <a:srgbClr val="FFFFFF"/>
                </a:solidFill>
                <a:latin typeface="Calibri"/>
              </a:rPr>
              <a:t>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46320" y="288036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Keyword Search Fails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0" y="3383280"/>
            <a:ext cx="3108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A9AB5"/>
                </a:solidFill>
                <a:latin typeface="Calibri"/>
              </a:rPr>
              <a:t>Traditional search cannot understand context. Search 'budget' and miss 'financial allocation'.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412480" y="2011680"/>
            <a:ext cx="3474720" cy="3657600"/>
          </a:xfrm>
          <a:prstGeom prst="rect">
            <a:avLst/>
          </a:prstGeom>
          <a:solidFill>
            <a:srgbClr val="0D1726"/>
          </a:solidFill>
          <a:ln w="12700">
            <a:solidFill>
              <a:srgbClr val="1E2D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41080" y="2148840"/>
            <a:ext cx="731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0" i="0">
                <a:solidFill>
                  <a:srgbClr val="FFFFFF"/>
                </a:solidFill>
                <a:latin typeface="Calibri"/>
              </a:rPr>
              <a:t>☁️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95359" y="288036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Cloud Privacy Risk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95359" y="3383280"/>
            <a:ext cx="3108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A9AB5"/>
                </a:solidFill>
                <a:latin typeface="Calibri"/>
              </a:rPr>
              <a:t>Sensitive documents uploaded to third-party cloud services create data leaks and compliance issues.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0" y="63093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A9AB5"/>
                </a:solidFill>
                <a:latin typeface="Calibri"/>
              </a:rPr>
              <a:t>02 / 09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4864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D4AA"/>
                </a:solidFill>
                <a:latin typeface="Calibri"/>
              </a:rPr>
              <a:t>THE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822960"/>
            <a:ext cx="9144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Georgia"/>
              </a:rPr>
              <a:t>Talk to your documents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920240"/>
            <a:ext cx="73152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8A9AB5"/>
                </a:solidFill>
                <a:latin typeface="Calibri"/>
              </a:rPr>
              <a:t>LocalDoc uses local LLMs to let you upload PDFs, Word files, or text — and ask questions in plain English. No cloud. No data leaks. Instant, cited answers from your own documents.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3474720"/>
            <a:ext cx="2331720" cy="1371600"/>
          </a:xfrm>
          <a:prstGeom prst="rect">
            <a:avLst/>
          </a:prstGeom>
          <a:solidFill>
            <a:srgbClr val="0D1726"/>
          </a:solidFill>
          <a:ln w="25400">
            <a:solidFill>
              <a:srgbClr val="6C6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3840480"/>
            <a:ext cx="2103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6C63FF"/>
                </a:solidFill>
                <a:latin typeface="Calibri"/>
              </a:rPr>
              <a:t>Upload 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73552" y="3931920"/>
            <a:ext cx="320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8A9AB5"/>
                </a:solidFill>
                <a:latin typeface="Calibri"/>
              </a:rPr>
              <a:t>→</a:t>
            </a:r>
          </a:p>
        </p:txBody>
      </p:sp>
      <p:sp>
        <p:nvSpPr>
          <p:cNvPr id="9" name="Rectangle 8"/>
          <p:cNvSpPr/>
          <p:nvPr/>
        </p:nvSpPr>
        <p:spPr>
          <a:xfrm>
            <a:off x="3566160" y="3474720"/>
            <a:ext cx="2331720" cy="1371600"/>
          </a:xfrm>
          <a:prstGeom prst="rect">
            <a:avLst/>
          </a:prstGeom>
          <a:solidFill>
            <a:srgbClr val="0D1726"/>
          </a:solidFill>
          <a:ln w="25400"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0" y="3840480"/>
            <a:ext cx="2103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0D4AA"/>
                </a:solidFill>
                <a:latin typeface="Calibri"/>
              </a:rPr>
              <a:t>Process 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25312" y="3931920"/>
            <a:ext cx="320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8A9AB5"/>
                </a:solidFill>
                <a:latin typeface="Calibri"/>
              </a:rPr>
              <a:t>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0" y="3474720"/>
            <a:ext cx="2331720" cy="1371600"/>
          </a:xfrm>
          <a:prstGeom prst="rect">
            <a:avLst/>
          </a:prstGeom>
          <a:solidFill>
            <a:srgbClr val="0D1726"/>
          </a:solidFill>
          <a:ln w="25400">
            <a:solidFill>
              <a:srgbClr val="FF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09359" y="3840480"/>
            <a:ext cx="2103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6B6B"/>
                </a:solidFill>
                <a:latin typeface="Calibri"/>
              </a:rPr>
              <a:t>Ask 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77072" y="3931920"/>
            <a:ext cx="320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8A9AB5"/>
                </a:solidFill>
                <a:latin typeface="Calibri"/>
              </a:rPr>
              <a:t>→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869680" y="3474720"/>
            <a:ext cx="2331720" cy="1371600"/>
          </a:xfrm>
          <a:prstGeom prst="rect">
            <a:avLst/>
          </a:prstGeom>
          <a:solidFill>
            <a:srgbClr val="0D1726"/>
          </a:solidFill>
          <a:ln w="25400"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61119" y="3840480"/>
            <a:ext cx="2103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0D4AA"/>
                </a:solidFill>
                <a:latin typeface="Calibri"/>
              </a:rPr>
              <a:t>Answer ✅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0" y="63093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A9AB5"/>
                </a:solidFill>
                <a:latin typeface="Calibri"/>
              </a:rPr>
              <a:t>03 / 09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4864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6C63FF"/>
                </a:solidFill>
                <a:latin typeface="Calibri"/>
              </a:rPr>
              <a:t>FEATURES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82296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Georgia"/>
              </a:rPr>
              <a:t>Everything you need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920240"/>
            <a:ext cx="3474720" cy="1920240"/>
          </a:xfrm>
          <a:prstGeom prst="rect">
            <a:avLst/>
          </a:prstGeom>
          <a:solidFill>
            <a:srgbClr val="0D1726"/>
          </a:solidFill>
          <a:ln w="12700">
            <a:solidFill>
              <a:srgbClr val="1E2D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210312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💬  Conversational Q&amp;A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06040"/>
            <a:ext cx="31089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A9AB5"/>
                </a:solidFill>
                <a:latin typeface="Calibri"/>
              </a:rPr>
              <a:t>Ask in plain English, get precise answers with citations.</a:t>
            </a:r>
          </a:p>
        </p:txBody>
      </p:sp>
      <p:sp>
        <p:nvSpPr>
          <p:cNvPr id="8" name="Rectangle 7"/>
          <p:cNvSpPr/>
          <p:nvPr/>
        </p:nvSpPr>
        <p:spPr>
          <a:xfrm>
            <a:off x="4663440" y="1920240"/>
            <a:ext cx="3474720" cy="1920240"/>
          </a:xfrm>
          <a:prstGeom prst="rect">
            <a:avLst/>
          </a:prstGeom>
          <a:solidFill>
            <a:srgbClr val="0D1726"/>
          </a:solidFill>
          <a:ln w="12700">
            <a:solidFill>
              <a:srgbClr val="1E2D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846320" y="210312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📝  Smart Summarization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46320" y="2606040"/>
            <a:ext cx="31089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A9AB5"/>
                </a:solidFill>
                <a:latin typeface="Calibri"/>
              </a:rPr>
              <a:t>Bullet or paragraph summaries in seconds.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412480" y="1920240"/>
            <a:ext cx="3474720" cy="1920240"/>
          </a:xfrm>
          <a:prstGeom prst="rect">
            <a:avLst/>
          </a:prstGeom>
          <a:solidFill>
            <a:srgbClr val="0D1726"/>
          </a:solidFill>
          <a:ln w="12700">
            <a:solidFill>
              <a:srgbClr val="1E2D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95359" y="210312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🔒  100% Local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95359" y="2606040"/>
            <a:ext cx="31089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A9AB5"/>
                </a:solidFill>
                <a:latin typeface="Calibri"/>
              </a:rPr>
              <a:t>Documents never leave your device.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14400" y="4023360"/>
            <a:ext cx="3474720" cy="1920240"/>
          </a:xfrm>
          <a:prstGeom prst="rect">
            <a:avLst/>
          </a:prstGeom>
          <a:solidFill>
            <a:srgbClr val="0D1726"/>
          </a:solidFill>
          <a:ln w="12700">
            <a:solidFill>
              <a:srgbClr val="1E2D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7280" y="420624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📂  Multi-Format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4709160"/>
            <a:ext cx="31089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A9AB5"/>
                </a:solidFill>
                <a:latin typeface="Calibri"/>
              </a:rPr>
              <a:t>PDF, DOCX, TXT and more supported.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663440" y="4023360"/>
            <a:ext cx="3474720" cy="1920240"/>
          </a:xfrm>
          <a:prstGeom prst="rect">
            <a:avLst/>
          </a:prstGeom>
          <a:solidFill>
            <a:srgbClr val="0D1726"/>
          </a:solidFill>
          <a:ln w="12700">
            <a:solidFill>
              <a:srgbClr val="1E2D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846320" y="420624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📌  Source Citations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46320" y="4709160"/>
            <a:ext cx="31089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A9AB5"/>
                </a:solidFill>
                <a:latin typeface="Calibri"/>
              </a:rPr>
              <a:t>Every answer links back to the source page.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412480" y="4023360"/>
            <a:ext cx="3474720" cy="1920240"/>
          </a:xfrm>
          <a:prstGeom prst="rect">
            <a:avLst/>
          </a:prstGeom>
          <a:solidFill>
            <a:srgbClr val="0D1726"/>
          </a:solidFill>
          <a:ln w="12700">
            <a:solidFill>
              <a:srgbClr val="1E2D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595359" y="420624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⚡  Blazing Fast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95359" y="4709160"/>
            <a:ext cx="31089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A9AB5"/>
                </a:solidFill>
                <a:latin typeface="Calibri"/>
              </a:rPr>
              <a:t>Vector search delivers results in under 2 seconds.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15600" y="63093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A9AB5"/>
                </a:solidFill>
                <a:latin typeface="Calibri"/>
              </a:rPr>
              <a:t>04 / 09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4864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D4AA"/>
                </a:solidFill>
                <a:latin typeface="Calibri"/>
              </a:rPr>
              <a:t>HOW IT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82296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Georgia"/>
              </a:rPr>
              <a:t>4 simple steps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920240"/>
            <a:ext cx="2560320" cy="4023360"/>
          </a:xfrm>
          <a:prstGeom prst="rect">
            <a:avLst/>
          </a:prstGeom>
          <a:solidFill>
            <a:srgbClr val="0D1726"/>
          </a:solidFill>
          <a:ln w="12700">
            <a:solidFill>
              <a:srgbClr val="1E2D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2011680"/>
            <a:ext cx="1097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A2D45"/>
                </a:solidFill>
                <a:latin typeface="Georgia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06040"/>
            <a:ext cx="640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  <a:latin typeface="Calibri"/>
              </a:rPr>
              <a:t>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3291840"/>
            <a:ext cx="2194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Upload Document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840480"/>
            <a:ext cx="21945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A9AB5"/>
                </a:solidFill>
                <a:latin typeface="Calibri"/>
              </a:rPr>
              <a:t>Drag &amp; drop any PDF, Word, or text file into LocalDoc.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749039" y="1920240"/>
            <a:ext cx="2560320" cy="4023360"/>
          </a:xfrm>
          <a:prstGeom prst="rect">
            <a:avLst/>
          </a:prstGeom>
          <a:solidFill>
            <a:srgbClr val="0D1726"/>
          </a:solidFill>
          <a:ln w="12700">
            <a:solidFill>
              <a:srgbClr val="1E2D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931920" y="2011680"/>
            <a:ext cx="1097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A2D45"/>
                </a:solidFill>
                <a:latin typeface="Georgia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31920" y="2606040"/>
            <a:ext cx="640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  <a:latin typeface="Calibri"/>
              </a:rPr>
              <a:t>🧩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31920" y="3291840"/>
            <a:ext cx="2194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AI Processes It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31920" y="3840480"/>
            <a:ext cx="21945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A9AB5"/>
                </a:solidFill>
                <a:latin typeface="Calibri"/>
              </a:rPr>
              <a:t>Document is chunked, embedded, and indexed via vector search.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83680" y="1920240"/>
            <a:ext cx="2560320" cy="4023360"/>
          </a:xfrm>
          <a:prstGeom prst="rect">
            <a:avLst/>
          </a:prstGeom>
          <a:solidFill>
            <a:srgbClr val="0D1726"/>
          </a:solidFill>
          <a:ln w="12700">
            <a:solidFill>
              <a:srgbClr val="1E2D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766560" y="2011680"/>
            <a:ext cx="1097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A2D45"/>
                </a:solidFill>
                <a:latin typeface="Georgia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66560" y="2606040"/>
            <a:ext cx="640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  <a:latin typeface="Calibri"/>
              </a:rPr>
              <a:t>💡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66560" y="3291840"/>
            <a:ext cx="2194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Ask Questions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66560" y="3840480"/>
            <a:ext cx="21945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A9AB5"/>
                </a:solidFill>
                <a:latin typeface="Calibri"/>
              </a:rPr>
              <a:t>Type your question in plain English in the chat interface.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418320" y="1920240"/>
            <a:ext cx="2560320" cy="4023360"/>
          </a:xfrm>
          <a:prstGeom prst="rect">
            <a:avLst/>
          </a:prstGeom>
          <a:solidFill>
            <a:srgbClr val="0D1726"/>
          </a:solidFill>
          <a:ln w="12700">
            <a:solidFill>
              <a:srgbClr val="1E2D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601200" y="2011680"/>
            <a:ext cx="1097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A2D45"/>
                </a:solidFill>
                <a:latin typeface="Georgia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01200" y="2606040"/>
            <a:ext cx="640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  <a:latin typeface="Calibri"/>
              </a:rPr>
              <a:t>✅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01200" y="3291840"/>
            <a:ext cx="2194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Get Answers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200" y="3840480"/>
            <a:ext cx="21945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A9AB5"/>
                </a:solidFill>
                <a:latin typeface="Calibri"/>
              </a:rPr>
              <a:t>Receive accurate, cited answers from your document instantly.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15600" y="63093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A9AB5"/>
                </a:solidFill>
                <a:latin typeface="Calibri"/>
              </a:rPr>
              <a:t>05 / 09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4864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6B6B"/>
                </a:solidFill>
                <a:latin typeface="Calibri"/>
              </a:rPr>
              <a:t>USE CASES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82296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Georgia"/>
              </a:rPr>
              <a:t>Built for every industry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920240"/>
            <a:ext cx="3474720" cy="1920240"/>
          </a:xfrm>
          <a:prstGeom prst="rect">
            <a:avLst/>
          </a:prstGeom>
          <a:solidFill>
            <a:srgbClr val="0D1726"/>
          </a:solidFill>
          <a:ln w="12700">
            <a:solidFill>
              <a:srgbClr val="1E2D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210312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⚖️  Legal Teams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06040"/>
            <a:ext cx="3108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A9AB5"/>
                </a:solidFill>
                <a:latin typeface="Calibri"/>
              </a:rPr>
              <a:t>Search contracts, find clauses, summarize agreements instantly.</a:t>
            </a:r>
          </a:p>
        </p:txBody>
      </p:sp>
      <p:sp>
        <p:nvSpPr>
          <p:cNvPr id="8" name="Rectangle 7"/>
          <p:cNvSpPr/>
          <p:nvPr/>
        </p:nvSpPr>
        <p:spPr>
          <a:xfrm>
            <a:off x="4663440" y="1920240"/>
            <a:ext cx="3474720" cy="1920240"/>
          </a:xfrm>
          <a:prstGeom prst="rect">
            <a:avLst/>
          </a:prstGeom>
          <a:solidFill>
            <a:srgbClr val="0D1726"/>
          </a:solidFill>
          <a:ln w="12700">
            <a:solidFill>
              <a:srgbClr val="1E2D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846320" y="210312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🏥  Healthcare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46320" y="2606040"/>
            <a:ext cx="3108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A9AB5"/>
                </a:solidFill>
                <a:latin typeface="Calibri"/>
              </a:rPr>
              <a:t>Query patient records, research papers, clinical guidelines.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412480" y="1920240"/>
            <a:ext cx="3474720" cy="1920240"/>
          </a:xfrm>
          <a:prstGeom prst="rect">
            <a:avLst/>
          </a:prstGeom>
          <a:solidFill>
            <a:srgbClr val="0D1726"/>
          </a:solidFill>
          <a:ln w="12700">
            <a:solidFill>
              <a:srgbClr val="1E2D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95359" y="210312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🎓  Students &amp; Researchers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95359" y="2606040"/>
            <a:ext cx="3108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A9AB5"/>
                </a:solidFill>
                <a:latin typeface="Calibri"/>
              </a:rPr>
              <a:t>Upload textbooks and papers — ask anything.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14400" y="4023360"/>
            <a:ext cx="3474720" cy="1920240"/>
          </a:xfrm>
          <a:prstGeom prst="rect">
            <a:avLst/>
          </a:prstGeom>
          <a:solidFill>
            <a:srgbClr val="0D1726"/>
          </a:solidFill>
          <a:ln w="12700">
            <a:solidFill>
              <a:srgbClr val="1E2D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7280" y="420624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💼  Business Analysts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4709160"/>
            <a:ext cx="3108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A9AB5"/>
                </a:solidFill>
                <a:latin typeface="Calibri"/>
              </a:rPr>
              <a:t>Summarize reports, extract KPIs, compare documents.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663440" y="4023360"/>
            <a:ext cx="3474720" cy="1920240"/>
          </a:xfrm>
          <a:prstGeom prst="rect">
            <a:avLst/>
          </a:prstGeom>
          <a:solidFill>
            <a:srgbClr val="0D1726"/>
          </a:solidFill>
          <a:ln w="12700">
            <a:solidFill>
              <a:srgbClr val="1E2D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846320" y="420624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🏗️  Engineers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46320" y="4709160"/>
            <a:ext cx="3108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A9AB5"/>
                </a:solidFill>
                <a:latin typeface="Calibri"/>
              </a:rPr>
              <a:t>Search technical specs and API docs without Ctrl+F.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412480" y="4023360"/>
            <a:ext cx="3474720" cy="1920240"/>
          </a:xfrm>
          <a:prstGeom prst="rect">
            <a:avLst/>
          </a:prstGeom>
          <a:solidFill>
            <a:srgbClr val="0D1726"/>
          </a:solidFill>
          <a:ln w="12700">
            <a:solidFill>
              <a:srgbClr val="1E2D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595359" y="420624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📰  Journalists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95359" y="4709160"/>
            <a:ext cx="3108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A9AB5"/>
                </a:solidFill>
                <a:latin typeface="Calibri"/>
              </a:rPr>
              <a:t>Upload transcripts and find key quotes in seconds.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15600" y="63093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A9AB5"/>
                </a:solidFill>
                <a:latin typeface="Calibri"/>
              </a:rPr>
              <a:t>06 / 09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4864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6C63FF"/>
                </a:solidFill>
                <a:latin typeface="Calibri"/>
              </a:rPr>
              <a:t>TECH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82296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Georgia"/>
              </a:rPr>
              <a:t>Powered by open-source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920240"/>
            <a:ext cx="3474720" cy="1828800"/>
          </a:xfrm>
          <a:prstGeom prst="rect">
            <a:avLst/>
          </a:prstGeom>
          <a:solidFill>
            <a:srgbClr val="0D1726"/>
          </a:solidFill>
          <a:ln w="12700"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97280" y="2194560"/>
            <a:ext cx="182880" cy="182880"/>
          </a:xfrm>
          <a:prstGeom prst="ellipse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2423160"/>
            <a:ext cx="3017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Georgia"/>
              </a:rPr>
              <a:t>LangChain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97180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D4AA"/>
                </a:solidFill>
                <a:latin typeface="Calibri"/>
              </a:rPr>
              <a:t>Orchestration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4663440" y="1920240"/>
            <a:ext cx="3474720" cy="1828800"/>
          </a:xfrm>
          <a:prstGeom prst="rect">
            <a:avLst/>
          </a:prstGeom>
          <a:solidFill>
            <a:srgbClr val="0D1726"/>
          </a:solidFill>
          <a:ln w="12700">
            <a:solidFill>
              <a:srgbClr val="6C6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846320" y="2194560"/>
            <a:ext cx="182880" cy="182880"/>
          </a:xfrm>
          <a:prstGeom prst="ellipse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46320" y="2423160"/>
            <a:ext cx="3017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Georgia"/>
              </a:rPr>
              <a:t>Ollama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0" y="297180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C63FF"/>
                </a:solidFill>
                <a:latin typeface="Calibri"/>
              </a:rPr>
              <a:t>Local LLM Runtime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412480" y="1920240"/>
            <a:ext cx="3474720" cy="1828800"/>
          </a:xfrm>
          <a:prstGeom prst="rect">
            <a:avLst/>
          </a:prstGeom>
          <a:solidFill>
            <a:srgbClr val="0D1726"/>
          </a:solidFill>
          <a:ln w="12700">
            <a:solidFill>
              <a:srgbClr val="FF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595360" y="2194560"/>
            <a:ext cx="182880" cy="182880"/>
          </a:xfrm>
          <a:prstGeom prst="ellipse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95359" y="2423160"/>
            <a:ext cx="3017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Georgia"/>
              </a:rPr>
              <a:t>FAISS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95359" y="297180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6B6B"/>
                </a:solidFill>
                <a:latin typeface="Calibri"/>
              </a:rPr>
              <a:t>Vector Search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4400" y="4023360"/>
            <a:ext cx="3474720" cy="1828800"/>
          </a:xfrm>
          <a:prstGeom prst="rect">
            <a:avLst/>
          </a:prstGeom>
          <a:solidFill>
            <a:srgbClr val="0D1726"/>
          </a:solidFill>
          <a:ln w="12700">
            <a:solidFill>
              <a:srgbClr val="61DA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97280" y="4297680"/>
            <a:ext cx="182880" cy="182880"/>
          </a:xfrm>
          <a:prstGeom prst="ellipse">
            <a:avLst/>
          </a:prstGeom>
          <a:solidFill>
            <a:srgbClr val="61D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97280" y="4526280"/>
            <a:ext cx="3017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Georgia"/>
              </a:rPr>
              <a:t>React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" y="507492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1DAFB"/>
                </a:solidFill>
                <a:latin typeface="Calibri"/>
              </a:rPr>
              <a:t>Frontend UI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663440" y="4023360"/>
            <a:ext cx="3474720" cy="1828800"/>
          </a:xfrm>
          <a:prstGeom prst="rect">
            <a:avLst/>
          </a:prstGeom>
          <a:solidFill>
            <a:srgbClr val="0D1726"/>
          </a:solidFill>
          <a:ln w="12700"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4846320" y="4297680"/>
            <a:ext cx="182880" cy="182880"/>
          </a:xfrm>
          <a:prstGeom prst="ellipse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846320" y="4526280"/>
            <a:ext cx="3017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Georgia"/>
              </a:rPr>
              <a:t>FastAPI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46320" y="507492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9688"/>
                </a:solidFill>
                <a:latin typeface="Calibri"/>
              </a:rPr>
              <a:t>Backend API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412480" y="4023360"/>
            <a:ext cx="3474720" cy="1828800"/>
          </a:xfrm>
          <a:prstGeom prst="rect">
            <a:avLst/>
          </a:prstGeom>
          <a:solidFill>
            <a:srgbClr val="0D1726"/>
          </a:solidFill>
          <a:ln w="12700">
            <a:solidFill>
              <a:srgbClr val="FFD1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595360" y="4297680"/>
            <a:ext cx="182880" cy="182880"/>
          </a:xfrm>
          <a:prstGeom prst="ellipse">
            <a:avLst/>
          </a:prstGeom>
          <a:solidFill>
            <a:srgbClr val="FFD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595359" y="4526280"/>
            <a:ext cx="3017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Georgia"/>
              </a:rPr>
              <a:t>PyMuPDF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95359" y="507492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D166"/>
                </a:solidFill>
                <a:latin typeface="Calibri"/>
              </a:rPr>
              <a:t>Document Parsing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515600" y="63093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A9AB5"/>
                </a:solidFill>
                <a:latin typeface="Calibri"/>
              </a:rPr>
              <a:t>07 / 09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4864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D4AA"/>
                </a:solidFill>
                <a:latin typeface="Calibri"/>
              </a:rPr>
              <a:t>THE TEAM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82296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Georgia"/>
              </a:rPr>
              <a:t>Behind LocalDoc</a:t>
            </a:r>
          </a:p>
        </p:txBody>
      </p:sp>
      <p:sp>
        <p:nvSpPr>
          <p:cNvPr id="5" name="Rectangle 4"/>
          <p:cNvSpPr/>
          <p:nvPr/>
        </p:nvSpPr>
        <p:spPr>
          <a:xfrm>
            <a:off x="1097280" y="2011680"/>
            <a:ext cx="2331720" cy="3474720"/>
          </a:xfrm>
          <a:prstGeom prst="rect">
            <a:avLst/>
          </a:prstGeom>
          <a:solidFill>
            <a:srgbClr val="0D1726"/>
          </a:solidFill>
          <a:ln w="12700">
            <a:solidFill>
              <a:srgbClr val="1E2D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2240280"/>
            <a:ext cx="2331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0" i="0">
                <a:solidFill>
                  <a:srgbClr val="FFFFFF"/>
                </a:solidFill>
                <a:latin typeface="Calibri"/>
              </a:rPr>
              <a:t>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3200400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Aisha Malik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3749039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8A9AB5"/>
                </a:solidFill>
                <a:latin typeface="Calibri"/>
              </a:rPr>
              <a:t>AI / ML Engineer</a:t>
            </a:r>
          </a:p>
        </p:txBody>
      </p:sp>
      <p:sp>
        <p:nvSpPr>
          <p:cNvPr id="9" name="Rectangle 8"/>
          <p:cNvSpPr/>
          <p:nvPr/>
        </p:nvSpPr>
        <p:spPr>
          <a:xfrm>
            <a:off x="3703320" y="2011680"/>
            <a:ext cx="2331720" cy="3474720"/>
          </a:xfrm>
          <a:prstGeom prst="rect">
            <a:avLst/>
          </a:prstGeom>
          <a:solidFill>
            <a:srgbClr val="0D1726"/>
          </a:solidFill>
          <a:ln w="12700">
            <a:solidFill>
              <a:srgbClr val="1E2D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03320" y="2240280"/>
            <a:ext cx="2331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0" i="0">
                <a:solidFill>
                  <a:srgbClr val="FFFFFF"/>
                </a:solidFill>
                <a:latin typeface="Calibri"/>
              </a:rPr>
              <a:t>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94759" y="3200400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Raza Khan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94759" y="3749039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8A9AB5"/>
                </a:solidFill>
                <a:latin typeface="Calibri"/>
              </a:rPr>
              <a:t>Full-Stack Developer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09360" y="2011680"/>
            <a:ext cx="2331720" cy="3474720"/>
          </a:xfrm>
          <a:prstGeom prst="rect">
            <a:avLst/>
          </a:prstGeom>
          <a:solidFill>
            <a:srgbClr val="0D1726"/>
          </a:solidFill>
          <a:ln w="12700">
            <a:solidFill>
              <a:srgbClr val="1E2D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09360" y="2240280"/>
            <a:ext cx="2331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0" i="0">
                <a:solidFill>
                  <a:srgbClr val="FFFFFF"/>
                </a:solidFill>
                <a:latin typeface="Calibri"/>
              </a:rPr>
              <a:t>🎨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3200400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Sara Ahmed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3749039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8A9AB5"/>
                </a:solidFill>
                <a:latin typeface="Calibri"/>
              </a:rPr>
              <a:t>UX / Product Design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915400" y="2011680"/>
            <a:ext cx="2331720" cy="3474720"/>
          </a:xfrm>
          <a:prstGeom prst="rect">
            <a:avLst/>
          </a:prstGeom>
          <a:solidFill>
            <a:srgbClr val="0D1726"/>
          </a:solidFill>
          <a:ln w="12700">
            <a:solidFill>
              <a:srgbClr val="1E2D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915400" y="2240280"/>
            <a:ext cx="2331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0" i="0">
                <a:solidFill>
                  <a:srgbClr val="FFFFFF"/>
                </a:solidFill>
                <a:latin typeface="Calibri"/>
              </a:rPr>
              <a:t>⚙️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06840" y="3200400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Omar Farooq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06840" y="3749039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8A9AB5"/>
                </a:solidFill>
                <a:latin typeface="Calibri"/>
              </a:rPr>
              <a:t>Backend &amp; DevOps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0" y="63093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A9AB5"/>
                </a:solidFill>
                <a:latin typeface="Calibri"/>
              </a:rPr>
              <a:t>08 / 09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686800" y="1371600"/>
            <a:ext cx="2743200" cy="2743200"/>
          </a:xfrm>
          <a:prstGeom prst="ellipse">
            <a:avLst/>
          </a:prstGeom>
          <a:solidFill>
            <a:srgbClr val="0030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01200" y="4572000"/>
            <a:ext cx="1828800" cy="1828800"/>
          </a:xfrm>
          <a:prstGeom prst="ellipse">
            <a:avLst/>
          </a:prstGeom>
          <a:solidFill>
            <a:srgbClr val="140C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914400"/>
            <a:ext cx="1828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0" b="0" i="0">
                <a:solidFill>
                  <a:srgbClr val="FFFFFF"/>
                </a:solidFill>
                <a:latin typeface="Calibri"/>
              </a:rPr>
              <a:t>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920240"/>
            <a:ext cx="8229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>
                <a:solidFill>
                  <a:srgbClr val="FFFFFF"/>
                </a:solidFill>
                <a:latin typeface="Georgia"/>
              </a:rPr>
              <a:t>Stop reading.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743200"/>
            <a:ext cx="8229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>
                <a:solidFill>
                  <a:srgbClr val="00D4AA"/>
                </a:solidFill>
                <a:latin typeface="Georgia"/>
              </a:rPr>
              <a:t>Start asking.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84048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8A9AB5"/>
                </a:solidFill>
                <a:latin typeface="Calibri"/>
              </a:rPr>
              <a:t>LocalDoc — your private, AI-powered document assistant.
No cloud. No subscription. Just answers.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" y="4937760"/>
            <a:ext cx="2377440" cy="59436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4956048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00000"/>
                </a:solidFill>
                <a:latin typeface="Calibri"/>
              </a:rPr>
              <a:t>Try LocalDoc 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566160" y="4937760"/>
            <a:ext cx="2377440" cy="594360"/>
          </a:xfrm>
          <a:prstGeom prst="rect">
            <a:avLst/>
          </a:prstGeom>
          <a:solidFill>
            <a:srgbClr val="0D1726"/>
          </a:solidFill>
          <a:ln w="12700">
            <a:solidFill>
              <a:srgbClr val="2A3C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66160" y="4956048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  <a:latin typeface="Calibri"/>
              </a:rPr>
              <a:t>View on GitHub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61264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A3C58"/>
                </a:solidFill>
                <a:latin typeface="Calibri"/>
              </a:rPr>
              <a:t>THANK YOU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0" y="63093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A9AB5"/>
                </a:solidFill>
                <a:latin typeface="Calibri"/>
              </a:rPr>
              <a:t>09 / 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